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0" roundtripDataSignature="AMtx7miGAaETKxMPPTwxT7Z0uN2PIm8J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457200" y="144505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IONOSCAN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2542330"/>
            <a:ext cx="8229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CubeSat Educativo 1U para el Monitoreo de la Ionósfera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S-ART Training Program - Bloque 0.1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[Tu Nombre]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Febrero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Concepto de la Misión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¿Qué es IONOSCAN?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457200" y="1417320"/>
            <a:ext cx="4114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IONOSCAN es un CubeSat educativo de formato 1U diseñado para realizar mediciones avanzadas de la ionósfera terrestre. Combina objetivos científicos con un fuerte componente educativo para estudiantes de ingeniería aeroespacial.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457200" y="2423160"/>
            <a:ext cx="4114800" cy="2560320"/>
          </a:xfrm>
          <a:prstGeom prst="rect">
            <a:avLst/>
          </a:prstGeom>
          <a:solidFill>
            <a:srgbClr val="CADCFC"/>
          </a:solidFill>
          <a:ln cap="flat" cmpd="sng" w="254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640080" y="256032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Especificaciones Técnicas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731520" y="297180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Tamaño: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2468880" y="297180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 × 10 × 10 cm (1U)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731520" y="3264408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Masa: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2468880" y="3264408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1,33 kg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731520" y="3557016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Órbita: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2468880" y="3557016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LEO (Baja Órbita Terrestre)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731520" y="3849624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Altitud: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2468880" y="3849624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~400 kilómetros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731520" y="4142232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Período Orbital: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2468880" y="4142232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~90 minutos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731520" y="443484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Objetivo: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2468880" y="443484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Monitoreo ionosférico educativo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" name="Google Shape;4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7013" y="1005845"/>
            <a:ext cx="3691072" cy="2164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9775" y="3337563"/>
            <a:ext cx="2381250" cy="141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Objetivos de la Misión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b="1" i="1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IONOSCAN persigue tres objetivos estratégicos interconectados: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443724" y="1417325"/>
            <a:ext cx="2576700" cy="3396000"/>
          </a:xfrm>
          <a:prstGeom prst="rect">
            <a:avLst/>
          </a:prstGeom>
          <a:solidFill>
            <a:srgbClr val="E8F0FF"/>
          </a:solidFill>
          <a:ln cap="flat" cmpd="sng" w="381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731520" y="1554480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OBJETIVO EDUCATIVO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641179" y="2241976"/>
            <a:ext cx="2244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Permitir que estudiantes de ingeniería aeroespacial desarrollen y operen una misión espacial real.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641184" y="3016501"/>
            <a:ext cx="2178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Proporcionar experiencia práctica en todas las fases del ciclo de vida de un proyecto espacial.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641177" y="3865075"/>
            <a:ext cx="2178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Integrar conocimientos teóricos con aplicación práctica en sistemas aeroespaciales complejos.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3405875" y="1417325"/>
            <a:ext cx="2529000" cy="3396000"/>
          </a:xfrm>
          <a:prstGeom prst="rect">
            <a:avLst/>
          </a:prstGeom>
          <a:solidFill>
            <a:srgbClr val="F0F8F0"/>
          </a:solidFill>
          <a:ln cap="flat" cmpd="sng" w="381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3673545" y="1554450"/>
            <a:ext cx="7680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OBJETIVO CIENTÍFICO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3603416" y="2256567"/>
            <a:ext cx="2356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Medir y caracterizar propiedades eléctricas de la ionósfera terrestre (densidad electrónica, temperatura).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3623621" y="3088692"/>
            <a:ext cx="2178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Validar modelos ionosféricos globales mediante comparación con datos in-situ.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3623605" y="3868023"/>
            <a:ext cx="2356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Contribuir al entendimiento de variabilidad ionosférica temporal y espacial.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6302950" y="1417325"/>
            <a:ext cx="2383800" cy="3396000"/>
          </a:xfrm>
          <a:prstGeom prst="rect">
            <a:avLst/>
          </a:prstGeom>
          <a:solidFill>
            <a:srgbClr val="FFF8F0"/>
          </a:solidFill>
          <a:ln cap="flat" cmpd="sng" w="381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6528064" y="1554483"/>
            <a:ext cx="7680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OBJETIVO DE DATOS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6502225" y="2503800"/>
            <a:ext cx="20583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Generar datasets de mediciones ionosféricas para investigación y publicación científica.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6508968" y="3522450"/>
            <a:ext cx="2244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Mejorar predicción de propagación de ondas de radio en aplicaciones de comunicación y navegación.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"/>
          <p:cNvSpPr/>
          <p:nvPr/>
        </p:nvSpPr>
        <p:spPr>
          <a:xfrm>
            <a:off x="568641" y="1448544"/>
            <a:ext cx="8432700" cy="603300"/>
          </a:xfrm>
          <a:prstGeom prst="rect">
            <a:avLst/>
          </a:prstGeom>
          <a:solidFill>
            <a:srgbClr val="F5F5F5"/>
          </a:solidFill>
          <a:ln cap="flat" cmpd="sng" w="254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650" lIns="91650" spcFirstLastPara="1" rIns="91650" wrap="square" tIns="91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568641" y="2165233"/>
            <a:ext cx="8432700" cy="603300"/>
          </a:xfrm>
          <a:prstGeom prst="rect">
            <a:avLst/>
          </a:prstGeom>
          <a:solidFill>
            <a:srgbClr val="CADCFC"/>
          </a:solidFill>
          <a:ln cap="flat" cmpd="sng" w="254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650" lIns="91650" spcFirstLastPara="1" rIns="91650" wrap="square" tIns="91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568641" y="2881923"/>
            <a:ext cx="8432700" cy="603300"/>
          </a:xfrm>
          <a:prstGeom prst="rect">
            <a:avLst/>
          </a:prstGeom>
          <a:solidFill>
            <a:srgbClr val="F5F5F5"/>
          </a:solidFill>
          <a:ln cap="flat" cmpd="sng" w="254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650" lIns="91650" spcFirstLastPara="1" rIns="91650" wrap="square" tIns="91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568641" y="3598613"/>
            <a:ext cx="8432700" cy="603300"/>
          </a:xfrm>
          <a:prstGeom prst="rect">
            <a:avLst/>
          </a:prstGeom>
          <a:solidFill>
            <a:srgbClr val="CADCFC"/>
          </a:solidFill>
          <a:ln cap="flat" cmpd="sng" w="254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650" lIns="91650" spcFirstLastPara="1" rIns="91650" wrap="square" tIns="91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568641" y="4315303"/>
            <a:ext cx="8432700" cy="603300"/>
          </a:xfrm>
          <a:prstGeom prst="rect">
            <a:avLst/>
          </a:prstGeom>
          <a:solidFill>
            <a:srgbClr val="F5F5F5"/>
          </a:solidFill>
          <a:ln cap="flat" cmpd="sng" w="254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650" lIns="91650" spcFirstLastPara="1" rIns="91650" wrap="square" tIns="91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Subsistemas Principales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El satélite integra cinco subsistemas especializados que trabajan de forma coordinada: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572631" y="1605593"/>
            <a:ext cx="1283100" cy="22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800" lIns="91650" spcFirstLastPara="1" rIns="91650" wrap="square" tIns="45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3"/>
              <a:buFont typeface="Calibri"/>
              <a:buNone/>
            </a:pPr>
            <a:r>
              <a:rPr b="1" i="0" lang="en-US" sz="1403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OBC</a:t>
            </a:r>
            <a:endParaRPr b="0" i="0" sz="140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2207496" y="1605593"/>
            <a:ext cx="2933100" cy="22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800" lIns="91650" spcFirstLastPara="1" rIns="91650" wrap="square" tIns="45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3"/>
              <a:buFont typeface="Calibri"/>
              <a:buNone/>
            </a:pPr>
            <a:r>
              <a:rPr b="1" i="0" lang="en-US" sz="120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Computadora a Bordo</a:t>
            </a:r>
            <a:endParaRPr b="0" i="0" sz="12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5121959" y="1477678"/>
            <a:ext cx="36663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800" lIns="91650" spcFirstLastPara="1" rIns="91650" wrap="square" tIns="45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2"/>
              <a:buFont typeface="Calibri"/>
              <a:buNone/>
            </a:pPr>
            <a:r>
              <a:rPr b="0" i="0" lang="en-US" sz="100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Procesa datos y controla todos los subsistemas del satélite</a:t>
            </a:r>
            <a:endParaRPr b="0" i="0" sz="10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572631" y="2322282"/>
            <a:ext cx="1283100" cy="22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800" lIns="91650" spcFirstLastPara="1" rIns="91650" wrap="square" tIns="45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3"/>
              <a:buFont typeface="Calibri"/>
              <a:buNone/>
            </a:pPr>
            <a:r>
              <a:rPr b="1" i="0" lang="en-US" sz="1403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EPS</a:t>
            </a:r>
            <a:endParaRPr b="0" i="0" sz="140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2207496" y="2322282"/>
            <a:ext cx="2933100" cy="22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800" lIns="91650" spcFirstLastPara="1" rIns="91650" wrap="square" tIns="45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3"/>
              <a:buFont typeface="Calibri"/>
              <a:buNone/>
            </a:pPr>
            <a:r>
              <a:rPr b="1" i="0" lang="en-US" sz="120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Sistema de Energía</a:t>
            </a:r>
            <a:endParaRPr b="0" i="0" sz="12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5121959" y="2194368"/>
            <a:ext cx="36663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800" lIns="91650" spcFirstLastPara="1" rIns="91650" wrap="square" tIns="45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2"/>
              <a:buFont typeface="Calibri"/>
              <a:buNone/>
            </a:pPr>
            <a:r>
              <a:rPr b="0" i="0" lang="en-US" sz="100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Paneles solares y baterías para alimentación continua</a:t>
            </a:r>
            <a:endParaRPr b="0" i="0" sz="10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572631" y="3038972"/>
            <a:ext cx="1283100" cy="22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800" lIns="91650" spcFirstLastPara="1" rIns="91650" wrap="square" tIns="45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3"/>
              <a:buFont typeface="Calibri"/>
              <a:buNone/>
            </a:pPr>
            <a:r>
              <a:rPr b="1" i="0" lang="en-US" sz="1403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TT&amp;C</a:t>
            </a:r>
            <a:endParaRPr b="0" i="0" sz="140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2207496" y="3038972"/>
            <a:ext cx="2933100" cy="22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800" lIns="91650" spcFirstLastPara="1" rIns="91650" wrap="square" tIns="45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3"/>
              <a:buFont typeface="Calibri"/>
              <a:buNone/>
            </a:pPr>
            <a:r>
              <a:rPr b="1" i="0" lang="en-US" sz="120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Comunicaciones</a:t>
            </a:r>
            <a:endParaRPr b="0" i="0" sz="12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5121959" y="2911058"/>
            <a:ext cx="36663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800" lIns="91650" spcFirstLastPara="1" rIns="91650" wrap="square" tIns="45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2"/>
              <a:buFont typeface="Calibri"/>
              <a:buNone/>
            </a:pPr>
            <a:r>
              <a:rPr b="0" i="0" lang="en-US" sz="100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Antenas para transmisión y recepción de datos desde Tierra</a:t>
            </a:r>
            <a:endParaRPr b="0" i="0" sz="10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572631" y="3755662"/>
            <a:ext cx="1283100" cy="22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800" lIns="91650" spcFirstLastPara="1" rIns="91650" wrap="square" tIns="45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3"/>
              <a:buFont typeface="Calibri"/>
              <a:buNone/>
            </a:pPr>
            <a:r>
              <a:rPr b="1" i="0" lang="en-US" sz="1403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AOCS</a:t>
            </a:r>
            <a:endParaRPr b="0" i="0" sz="140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2207496" y="3755662"/>
            <a:ext cx="2933100" cy="22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800" lIns="91650" spcFirstLastPara="1" rIns="91650" wrap="square" tIns="45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3"/>
              <a:buFont typeface="Calibri"/>
              <a:buNone/>
            </a:pPr>
            <a:r>
              <a:rPr b="1" i="0" lang="en-US" sz="120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Control de Actitud</a:t>
            </a:r>
            <a:endParaRPr b="0" i="0" sz="12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5121959" y="3627748"/>
            <a:ext cx="36663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800" lIns="91650" spcFirstLastPara="1" rIns="91650" wrap="square" tIns="45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2"/>
              <a:buFont typeface="Calibri"/>
              <a:buNone/>
            </a:pPr>
            <a:r>
              <a:rPr b="0" i="0" lang="en-US" sz="100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Ruedas de reacción para orientación del satélite en órbita</a:t>
            </a:r>
            <a:endParaRPr b="0" i="0" sz="10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572631" y="4472352"/>
            <a:ext cx="1283100" cy="22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800" lIns="91650" spcFirstLastPara="1" rIns="91650" wrap="square" tIns="45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3"/>
              <a:buFont typeface="Calibri"/>
              <a:buNone/>
            </a:pPr>
            <a:r>
              <a:rPr b="1" i="0" lang="en-US" sz="1403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Payload</a:t>
            </a:r>
            <a:endParaRPr b="0" i="0" sz="140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2207496" y="4472352"/>
            <a:ext cx="2933100" cy="22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800" lIns="91650" spcFirstLastPara="1" rIns="91650" wrap="square" tIns="45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3"/>
              <a:buFont typeface="Calibri"/>
              <a:buNone/>
            </a:pPr>
            <a:r>
              <a:rPr b="1" i="0" lang="en-US" sz="120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Sonda de Langmuir</a:t>
            </a:r>
            <a:endParaRPr b="0" i="0" sz="12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5121959" y="4344437"/>
            <a:ext cx="36663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800" lIns="91650" spcFirstLastPara="1" rIns="91650" wrap="square" tIns="45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2"/>
              <a:buFont typeface="Calibri"/>
              <a:buNone/>
            </a:pPr>
            <a:r>
              <a:rPr b="0" i="0" lang="en-US" sz="100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Instrumento científico para mediciones ionosféricas avanzadas</a:t>
            </a:r>
            <a:endParaRPr b="0" i="0" sz="10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5"/>
          <p:cNvCxnSpPr/>
          <p:nvPr/>
        </p:nvCxnSpPr>
        <p:spPr>
          <a:xfrm>
            <a:off x="1371600" y="1280160"/>
            <a:ext cx="6400800" cy="0"/>
          </a:xfrm>
          <a:prstGeom prst="straightConnector1">
            <a:avLst/>
          </a:prstGeom>
          <a:noFill/>
          <a:ln cap="flat" cmpd="sng" w="381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5"/>
          <p:cNvSpPr/>
          <p:nvPr/>
        </p:nvSpPr>
        <p:spPr>
          <a:xfrm>
            <a:off x="325300" y="1526300"/>
            <a:ext cx="8412600" cy="9657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599621" y="1629763"/>
            <a:ext cx="78639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Capacidad Científica Real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599621" y="1905665"/>
            <a:ext cx="7863900" cy="4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IONOSCAN demuestra que un satélite pequeño (1U) puede lograr objetivos científicos reales y contribuir a la investigación global de la ionósfera.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325300" y="2629909"/>
            <a:ext cx="8412600" cy="9657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599621" y="2733372"/>
            <a:ext cx="78639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Valor Educativo Incalculable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599621" y="3009274"/>
            <a:ext cx="7863900" cy="4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La misión proporciona a estudiantes experiencia práctica en todas las disciplinas de ingeniería espacial, superando ampliamente el alcance de cualquier simulación académica.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325300" y="3733518"/>
            <a:ext cx="8412600" cy="9657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599621" y="3836981"/>
            <a:ext cx="78639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Desafíos que Forman Ingenieros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599621" y="4112883"/>
            <a:ext cx="7863900" cy="4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Los desafíos inherentes del diseño y operación proporcionan invaluable experiencia en resolución de problemas complejos, preparando a los estudiantes para carreras en ingeniería aeroespacial.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2026-02-22T08:26:28Z</dcterms:created>
  <dc:creator>PptxGenJS</dc:creator>
</cp:coreProperties>
</file>